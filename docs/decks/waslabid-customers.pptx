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 on slide 2. The promise: every tender run on WaslaBid can be proven 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mid-size firms run tenders on email, WhatsApp and Excel. Each step leaks. Ask: if a losing vendor complained tomorrow, what would you show?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Vendors on the left see only your brand. Your departments on the right each act at their own step. Nothing moves by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gold-ringed steps are where the seal is enforced: submission and score 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contracts departments already work on paper, enforced by software. Many tools hide prices with a permission; we encrypt them with a separate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demo we preload their real logo and colour. Every touchpoint a vendor sees carries the buyer's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event log is append-only. The audit bundle is what the finance manager shows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not in the pilot. The AI is an assistant; the audit trail shows the human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suites start around SAR 187,500 a year. Growth on an annual plan is SAR 35,000.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502920"/>
            <a:ext cx="5852160" cy="5852160"/>
          </a:xfrm>
          <a:prstGeom prst="ellipse">
            <a:avLst/>
          </a:prstGeom>
          <a:solidFill>
            <a:srgbClr val="5B3A8C">
              <a:alpha val="15000"/>
            </a:srgbClr>
          </a:solidFill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1143000"/>
            <a:ext cx="4572000" cy="4572000"/>
          </a:xfrm>
          <a:prstGeom prst="ellipse">
            <a:avLst/>
          </a:prstGeom>
          <a:solidFill>
            <a:srgbClr val="5B3A8C">
              <a:alpha val="30000"/>
            </a:srgbClr>
          </a:solidFill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783080"/>
            <a:ext cx="3291840" cy="3291840"/>
          </a:xfrm>
          <a:prstGeom prst="ellipse">
            <a:avLst/>
          </a:prstGeom>
          <a:solidFill>
            <a:srgbClr val="5B3A8C">
              <a:alpha val="60000"/>
            </a:srgbClr>
          </a:solidFill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2423160"/>
            <a:ext cx="2011680" cy="2011680"/>
          </a:xfrm>
          <a:prstGeom prst="ellipse">
            <a:avLst/>
          </a:prstGeom>
          <a:solidFill>
            <a:srgbClr val="5B3A8C"/>
          </a:solidFill>
          <a:ln w="61468">
            <a:solidFill>
              <a:srgbClr val="C9A22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92608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0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Wasla</a:t>
            </a:r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800" dirty="0">
                <a:solidFill>
                  <a:srgbClr val="B8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وصلة بد</a:t>
            </a:r>
            <a:endParaRPr lang="ar-SA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331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TO PURCHASE ORDER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517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tenders.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brand.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Sealed until it's fair.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5262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6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vendors to submit sealed offers and for your team to screen, score, approve, and issue the purchase order.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8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Saudi companies with 100 to 2,000 staff   ·   Arabic and English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prove your last tender was fair?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9202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sent by email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71800" y="2441448"/>
            <a:ext cx="436778" cy="914"/>
          </a:xfrm>
          <a:prstGeom prst="line">
            <a:avLst/>
          </a:prstGeom>
          <a:noFill/>
          <a:ln w="2222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737360" y="3063240"/>
            <a:ext cx="914" cy="457200"/>
          </a:xfrm>
          <a:prstGeom prst="line">
            <a:avLst/>
          </a:prstGeom>
          <a:noFill/>
          <a:ln w="19050">
            <a:solidFill>
              <a:srgbClr val="B42318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48640" y="35204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FBE9E7"/>
          </a:solidFill>
          <a:ln w="12700">
            <a:solidFill>
              <a:srgbClr val="B4231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opened the prices first?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454298" y="182880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898" y="20574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31538" y="19202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arrive on email and WhatsApp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877458" y="2441448"/>
            <a:ext cx="436778" cy="914"/>
          </a:xfrm>
          <a:prstGeom prst="line">
            <a:avLst/>
          </a:prstGeom>
          <a:noFill/>
          <a:ln w="2222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643018" y="3063240"/>
            <a:ext cx="914" cy="457200"/>
          </a:xfrm>
          <a:prstGeom prst="line">
            <a:avLst/>
          </a:prstGeom>
          <a:noFill/>
          <a:ln w="19050">
            <a:solidFill>
              <a:srgbClr val="B42318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3454298" y="35204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FBE9E7"/>
          </a:solidFill>
          <a:ln w="12700">
            <a:solidFill>
              <a:srgbClr val="B4231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466" y="384048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140098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changed after the deadline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359957" y="182880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557" y="20574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137197" y="19202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compared in Excel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8783117" y="2441448"/>
            <a:ext cx="436778" cy="914"/>
          </a:xfrm>
          <a:prstGeom prst="line">
            <a:avLst/>
          </a:prstGeom>
          <a:noFill/>
          <a:ln w="2222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7548677" y="3063240"/>
            <a:ext cx="914" cy="457200"/>
          </a:xfrm>
          <a:prstGeom prst="line">
            <a:avLst/>
          </a:prstGeom>
          <a:noFill/>
          <a:ln w="19050">
            <a:solidFill>
              <a:srgbClr val="B42318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6359957" y="35204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FBE9E7"/>
          </a:solidFill>
          <a:ln w="12700">
            <a:solidFill>
              <a:srgbClr val="B42318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125" y="3840480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45757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errors, no second check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9265615" y="182880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4215" y="2057400"/>
            <a:ext cx="411480" cy="4114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042855" y="19202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signed on paper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10454335" y="3063240"/>
            <a:ext cx="914" cy="457200"/>
          </a:xfrm>
          <a:prstGeom prst="line">
            <a:avLst/>
          </a:prstGeom>
          <a:noFill/>
          <a:ln w="19050">
            <a:solidFill>
              <a:srgbClr val="B42318"/>
            </a:solidFill>
            <a:prstDash val="dash"/>
          </a:ln>
        </p:spPr>
      </p:sp>
      <p:sp>
        <p:nvSpPr>
          <p:cNvPr id="32" name="Shape 23"/>
          <p:cNvSpPr/>
          <p:nvPr/>
        </p:nvSpPr>
        <p:spPr>
          <a:xfrm>
            <a:off x="9265615" y="35204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FBE9E7"/>
          </a:solidFill>
          <a:ln w="12700">
            <a:solidFill>
              <a:srgbClr val="B42318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6783" y="384048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951415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trail for audit or the board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54864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EFEAF7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Text 27"/>
          <p:cNvSpPr txBox="1"/>
          <p:nvPr/>
        </p:nvSpPr>
        <p:spPr>
          <a:xfrm>
            <a:off x="868680" y="507492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law forces a private company to run a sealed tender. 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auditors, boards, audit committees, and losing vendors all ask the same question, and email cannot answer it.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WASLABID 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sealed room between you and your vendors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41368" y="2423160"/>
            <a:ext cx="3108960" cy="3108960"/>
          </a:xfrm>
          <a:prstGeom prst="ellipse">
            <a:avLst/>
          </a:prstGeom>
          <a:solidFill>
            <a:srgbClr val="5B3A8C">
              <a:alpha val="12000"/>
            </a:srgbClr>
          </a:solidFill>
          <a:ln w="12700">
            <a:solidFill>
              <a:srgbClr val="C9A227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861408" y="2743200"/>
            <a:ext cx="2468880" cy="2468880"/>
          </a:xfrm>
          <a:prstGeom prst="ellipse">
            <a:avLst/>
          </a:prstGeom>
          <a:solidFill>
            <a:srgbClr val="5B3A8C"/>
          </a:solidFill>
          <a:ln w="38100">
            <a:solidFill>
              <a:srgbClr val="C9A22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3063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861408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tender portal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861408" y="40873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logo, your domain,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colours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VENDORS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3108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304288"/>
            <a:ext cx="566928" cy="566928"/>
          </a:xfrm>
          <a:prstGeom prst="ellipse">
            <a:avLst/>
          </a:prstGeom>
          <a:solidFill>
            <a:srgbClr val="F4ECD2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244602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2148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once, free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703320" y="2587752"/>
            <a:ext cx="792328" cy="88696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48640" y="3337560"/>
            <a:ext cx="3108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493008"/>
            <a:ext cx="566928" cy="566928"/>
          </a:xfrm>
          <a:prstGeom prst="ellipse">
            <a:avLst/>
          </a:prstGeom>
          <a:solidFill>
            <a:srgbClr val="F4ECD2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634740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3337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from a phone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703320" y="3776472"/>
            <a:ext cx="792328" cy="20116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548640" y="4526280"/>
            <a:ext cx="3108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4681728"/>
            <a:ext cx="566928" cy="566928"/>
          </a:xfrm>
          <a:prstGeom prst="ellipse">
            <a:avLst/>
          </a:prstGeom>
          <a:solidFill>
            <a:srgbClr val="F4ECD2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823460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63040" y="45262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the open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 flipV="1">
            <a:off x="3703320" y="4480560"/>
            <a:ext cx="792328" cy="484632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5" name="Text 19"/>
          <p:cNvSpPr txBox="1"/>
          <p:nvPr/>
        </p:nvSpPr>
        <p:spPr>
          <a:xfrm>
            <a:off x="8534095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534095" y="2011680"/>
            <a:ext cx="3108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698687" y="2139696"/>
            <a:ext cx="530352" cy="530352"/>
          </a:xfrm>
          <a:prstGeom prst="ellipse">
            <a:avLst/>
          </a:prstGeom>
          <a:solidFill>
            <a:srgbClr val="EFEAF7"/>
          </a:solidFill>
          <a:ln w="19050">
            <a:solidFill>
              <a:srgbClr val="DCD2EE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1275" y="2272284"/>
            <a:ext cx="265176" cy="26517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402775" y="201168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and runs the tender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 flipV="1">
            <a:off x="7696048" y="2404872"/>
            <a:ext cx="792328" cy="955548"/>
          </a:xfrm>
          <a:prstGeom prst="line">
            <a:avLst/>
          </a:prstGeom>
          <a:noFill/>
          <a:ln w="19050">
            <a:solidFill>
              <a:srgbClr val="5B3A8C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8534095" y="2999232"/>
            <a:ext cx="3108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698687" y="3127248"/>
            <a:ext cx="530352" cy="530352"/>
          </a:xfrm>
          <a:prstGeom prst="ellipse">
            <a:avLst/>
          </a:prstGeom>
          <a:solidFill>
            <a:srgbClr val="EFEAF7"/>
          </a:solidFill>
          <a:ln w="19050">
            <a:solidFill>
              <a:srgbClr val="DCD2EE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1275" y="3259836"/>
            <a:ext cx="265176" cy="26517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402775" y="2999232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technical offer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 flipV="1">
            <a:off x="7696048" y="3392424"/>
            <a:ext cx="792328" cy="379476"/>
          </a:xfrm>
          <a:prstGeom prst="line">
            <a:avLst/>
          </a:prstGeom>
          <a:noFill/>
          <a:ln w="19050">
            <a:solidFill>
              <a:srgbClr val="5B3A8C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8534095" y="3986784"/>
            <a:ext cx="3108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698687" y="4114800"/>
            <a:ext cx="530352" cy="530352"/>
          </a:xfrm>
          <a:prstGeom prst="ellipse">
            <a:avLst/>
          </a:prstGeom>
          <a:solidFill>
            <a:srgbClr val="EFEAF7"/>
          </a:solidFill>
          <a:ln w="19050">
            <a:solidFill>
              <a:srgbClr val="DCD2EE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1275" y="4247388"/>
            <a:ext cx="265176" cy="26517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402775" y="3986784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the award</a:t>
            </a:r>
            <a:endParaRPr lang="en-US" sz="1400" dirty="0"/>
          </a:p>
        </p:txBody>
      </p:sp>
      <p:sp>
        <p:nvSpPr>
          <p:cNvPr id="40" name="Shape 31"/>
          <p:cNvSpPr/>
          <p:nvPr/>
        </p:nvSpPr>
        <p:spPr>
          <a:xfrm>
            <a:off x="7696048" y="4183380"/>
            <a:ext cx="792328" cy="196596"/>
          </a:xfrm>
          <a:prstGeom prst="line">
            <a:avLst/>
          </a:prstGeom>
          <a:noFill/>
          <a:ln w="19050">
            <a:solidFill>
              <a:srgbClr val="5B3A8C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8534095" y="4974336"/>
            <a:ext cx="3108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8698687" y="5102352"/>
            <a:ext cx="530352" cy="530352"/>
          </a:xfrm>
          <a:prstGeom prst="ellipse">
            <a:avLst/>
          </a:prstGeom>
          <a:solidFill>
            <a:srgbClr val="EFEAF7"/>
          </a:solidFill>
          <a:ln w="19050">
            <a:solidFill>
              <a:srgbClr val="DCD2EE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1275" y="5234940"/>
            <a:ext cx="265176" cy="265176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402775" y="4974336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under your brand</a:t>
            </a:r>
            <a:endParaRPr lang="en-US" sz="1400" dirty="0"/>
          </a:p>
        </p:txBody>
      </p:sp>
      <p:sp>
        <p:nvSpPr>
          <p:cNvPr id="45" name="Shape 35"/>
          <p:cNvSpPr/>
          <p:nvPr/>
        </p:nvSpPr>
        <p:spPr>
          <a:xfrm>
            <a:off x="7696048" y="4594860"/>
            <a:ext cx="792328" cy="772668"/>
          </a:xfrm>
          <a:prstGeom prst="line">
            <a:avLst/>
          </a:prstGeom>
          <a:noFill/>
          <a:ln w="19050">
            <a:solidFill>
              <a:srgbClr val="5B3A8C"/>
            </a:solidFill>
            <a:prstDash val="solid"/>
            <a:tailEnd type="triangle"/>
          </a:ln>
        </p:spPr>
      </p:sp>
      <p:sp>
        <p:nvSpPr>
          <p:cNvPr id="46" name="Text 36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steps, from need to purchase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766060"/>
            <a:ext cx="9814255" cy="914"/>
          </a:xfrm>
          <a:prstGeom prst="line">
            <a:avLst/>
          </a:prstGeom>
          <a:noFill/>
          <a:ln w="38100">
            <a:solidFill>
              <a:srgbClr val="DCD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" y="2331720"/>
            <a:ext cx="868680" cy="868680"/>
          </a:xfrm>
          <a:prstGeom prst="ellipse">
            <a:avLst/>
          </a:prstGeom>
          <a:solidFill>
            <a:srgbClr val="FFFFFF"/>
          </a:solidFill>
          <a:ln w="26543">
            <a:solidFill>
              <a:srgbClr val="DCD2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548890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21892" y="22402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Tender, bill of quantities, criteria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42519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390089" y="2331720"/>
            <a:ext cx="868680" cy="868680"/>
          </a:xfrm>
          <a:prstGeom prst="ellipse">
            <a:avLst/>
          </a:prstGeom>
          <a:solidFill>
            <a:srgbClr val="FFFFFF"/>
          </a:solidFill>
          <a:ln w="26543">
            <a:solidFill>
              <a:srgbClr val="DCD2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259" y="2548890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57601" y="22402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047189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047189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link to each vendor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75789" y="42519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275789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025798" y="2331720"/>
            <a:ext cx="868680" cy="868680"/>
          </a:xfrm>
          <a:prstGeom prst="ellipse">
            <a:avLst/>
          </a:prstGeom>
          <a:solidFill>
            <a:srgbClr val="5B3A8C"/>
          </a:solidFill>
          <a:ln w="26543">
            <a:solidFill>
              <a:srgbClr val="C9A22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968" y="2548890"/>
            <a:ext cx="434340" cy="4343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93310" y="22402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3682898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offers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3682898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financial, apart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911498" y="42519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4ECD2"/>
          </a:solidFill>
          <a:ln w="12700">
            <a:solidFill>
              <a:srgbClr val="F4ECD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911498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661508" y="2331720"/>
            <a:ext cx="868680" cy="868680"/>
          </a:xfrm>
          <a:prstGeom prst="ellipse">
            <a:avLst/>
          </a:prstGeom>
          <a:solidFill>
            <a:srgbClr val="FFFFFF"/>
          </a:solidFill>
          <a:ln w="26543">
            <a:solidFill>
              <a:srgbClr val="DCD2E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678" y="2548890"/>
            <a:ext cx="434340" cy="4343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329020" y="22402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5318608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318608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checklist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547208" y="42519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547208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297217" y="2331720"/>
            <a:ext cx="868680" cy="868680"/>
          </a:xfrm>
          <a:prstGeom prst="ellipse">
            <a:avLst/>
          </a:prstGeom>
          <a:solidFill>
            <a:srgbClr val="5B3A8C"/>
          </a:solidFill>
          <a:ln w="26543">
            <a:solidFill>
              <a:srgbClr val="C9A227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4387" y="2548890"/>
            <a:ext cx="434340" cy="43434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964729" y="22402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6954317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lock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6954317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score, then lock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7182917" y="42519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6EEFB"/>
          </a:solidFill>
          <a:ln w="12700">
            <a:solidFill>
              <a:srgbClr val="E6EEF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182917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932926" y="2331720"/>
            <a:ext cx="868680" cy="868680"/>
          </a:xfrm>
          <a:prstGeom prst="ellipse">
            <a:avLst/>
          </a:prstGeom>
          <a:solidFill>
            <a:srgbClr val="FFFFFF"/>
          </a:solidFill>
          <a:ln w="26543">
            <a:solidFill>
              <a:srgbClr val="DCD2EE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0096" y="2548890"/>
            <a:ext cx="434340" cy="43434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600438" y="22402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8590026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prices</a:t>
            </a:r>
            <a:endParaRPr lang="en-US" sz="1400" dirty="0"/>
          </a:p>
        </p:txBody>
      </p:sp>
      <p:sp>
        <p:nvSpPr>
          <p:cNvPr id="44" name="Text 36"/>
          <p:cNvSpPr txBox="1"/>
          <p:nvPr/>
        </p:nvSpPr>
        <p:spPr>
          <a:xfrm>
            <a:off x="8590026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sheet built for you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8818626" y="42519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8818626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10568635" y="2331720"/>
            <a:ext cx="868680" cy="868680"/>
          </a:xfrm>
          <a:prstGeom prst="ellipse">
            <a:avLst/>
          </a:prstGeom>
          <a:solidFill>
            <a:srgbClr val="FFFFFF"/>
          </a:solidFill>
          <a:ln w="26543">
            <a:solidFill>
              <a:srgbClr val="DCD2EE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5805" y="2548890"/>
            <a:ext cx="434340" cy="43434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11236147" y="22402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10225735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PO</a:t>
            </a:r>
            <a:endParaRPr lang="en-US" sz="1400" dirty="0"/>
          </a:p>
        </p:txBody>
      </p:sp>
      <p:sp>
        <p:nvSpPr>
          <p:cNvPr id="51" name="Text 42"/>
          <p:cNvSpPr txBox="1"/>
          <p:nvPr/>
        </p:nvSpPr>
        <p:spPr>
          <a:xfrm>
            <a:off x="10225735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purchase order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10454335" y="42519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10454335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FEAF7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486400"/>
            <a:ext cx="411480" cy="411480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1463040" y="530352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approval chain, not ours.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tender follows your company's own steps and approvers. Sealing, score locking, and deadlines are fixed so no one can skip them.</a:t>
            </a:r>
            <a:endParaRPr lang="en-US" sz="1400" dirty="0"/>
          </a:p>
        </p:txBody>
      </p:sp>
      <p:sp>
        <p:nvSpPr>
          <p:cNvPr id="57" name="Text 47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SEALED ENVELOPE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Prices stay sealed until scores are locked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914" cy="3291840"/>
          </a:xfrm>
          <a:prstGeom prst="line">
            <a:avLst/>
          </a:prstGeom>
          <a:noFill/>
          <a:ln w="19050">
            <a:solidFill>
              <a:srgbClr val="C9A227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rgbClr val="241D42"/>
          </a:solidFill>
          <a:ln w="22352">
            <a:solidFill>
              <a:srgbClr val="C9A22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37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passes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time. Late offers are refused; prices can no longer change.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731520" cy="731520"/>
          </a:xfrm>
          <a:prstGeom prst="ellipse">
            <a:avLst/>
          </a:prstGeom>
          <a:solidFill>
            <a:srgbClr val="241D42"/>
          </a:solidFill>
          <a:ln w="22352">
            <a:solidFill>
              <a:srgbClr val="C9A22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63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834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envelopes open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score without seeing any price.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977640"/>
            <a:ext cx="731520" cy="731520"/>
          </a:xfrm>
          <a:prstGeom prst="ellipse">
            <a:avLst/>
          </a:prstGeom>
          <a:solidFill>
            <a:srgbClr val="5B3A8C"/>
          </a:solidFill>
          <a:ln w="22352">
            <a:solidFill>
              <a:srgbClr val="C9A22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605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3931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locked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contracts officer locks the scores. They cannot be edited after.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5074920"/>
            <a:ext cx="731520" cy="731520"/>
          </a:xfrm>
          <a:prstGeom prst="ellipse">
            <a:avLst/>
          </a:prstGeom>
          <a:solidFill>
            <a:srgbClr val="5B3A8C"/>
          </a:solidFill>
          <a:ln w="22352">
            <a:solidFill>
              <a:srgbClr val="C9A22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5780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54480" y="50292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open at a logged event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envelopes open with a separate key, recorded with who, when, and from where.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949440" y="1828800"/>
            <a:ext cx="2148840" cy="2743200"/>
          </a:xfrm>
          <a:prstGeom prst="roundRect">
            <a:avLst>
              <a:gd name="adj" fmla="val 5106"/>
            </a:avLst>
          </a:prstGeom>
          <a:solidFill>
            <a:srgbClr val="EFEAF7"/>
          </a:solidFill>
          <a:ln w="12700">
            <a:solidFill>
              <a:srgbClr val="DCD2EE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148840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949440" y="2971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envelope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7360920" y="38404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360920" y="3840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first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9372600" y="1828800"/>
            <a:ext cx="2148840" cy="2743200"/>
          </a:xfrm>
          <a:prstGeom prst="roundRect">
            <a:avLst>
              <a:gd name="adj" fmla="val 5106"/>
            </a:avLst>
          </a:prstGeom>
          <a:solidFill>
            <a:srgbClr val="5B3A8C"/>
          </a:solidFill>
          <a:ln w="31750">
            <a:solidFill>
              <a:srgbClr val="C9A227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2148840"/>
            <a:ext cx="685800" cy="6858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372600" y="2971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envelope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9692640" y="384048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9692640" y="384048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key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6949440" y="48463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even the platform administrator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open prices early. Permissions can be changed; an encrypted envelope with its own key and a logged opening cannot.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B8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vendors see your company, not ours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7784" y="1792224"/>
            <a:ext cx="3410712" cy="365760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11096"/>
            <a:ext cx="109728" cy="109728"/>
          </a:xfrm>
          <a:prstGeom prst="ellipse">
            <a:avLst/>
          </a:prstGeom>
          <a:solidFill>
            <a:srgbClr val="E553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911096"/>
            <a:ext cx="109728" cy="109728"/>
          </a:xfrm>
          <a:prstGeom prst="ellipse">
            <a:avLst/>
          </a:prstGeom>
          <a:solidFill>
            <a:srgbClr val="E6B8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911096"/>
            <a:ext cx="109728" cy="109728"/>
          </a:xfrm>
          <a:prstGeom prst="ellipse">
            <a:avLst/>
          </a:prstGeom>
          <a:solidFill>
            <a:srgbClr val="57B3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1847088"/>
            <a:ext cx="24688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tenders.yourcompany.sa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" y="2157984"/>
            <a:ext cx="3410712" cy="548640"/>
          </a:xfrm>
          <a:prstGeom prst="rect">
            <a:avLst/>
          </a:prstGeom>
          <a:solidFill>
            <a:srgbClr val="0E5A6E"/>
          </a:solidFill>
          <a:ln w="12700">
            <a:solidFill>
              <a:srgbClr val="0E5A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267712"/>
            <a:ext cx="1188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8803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of office furniture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004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closes 14 October, 2:00 pm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2880360" cy="146304"/>
          </a:xfrm>
          <a:prstGeom prst="roundRect">
            <a:avLst>
              <a:gd name="adj" fmla="val 31250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04488"/>
            <a:ext cx="2331720" cy="146304"/>
          </a:xfrm>
          <a:prstGeom prst="roundRect">
            <a:avLst>
              <a:gd name="adj" fmla="val 31250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97096"/>
            <a:ext cx="1783080" cy="146304"/>
          </a:xfrm>
          <a:prstGeom prst="roundRect">
            <a:avLst>
              <a:gd name="adj" fmla="val 31250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5262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D5FD1"/>
          </a:solidFill>
          <a:ln w="12700">
            <a:solidFill>
              <a:srgbClr val="1D5F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5262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offer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1348" y="17830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55668" y="20574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Procurement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55668" y="23500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invited to tender TND-2026-014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55668" y="2880360"/>
            <a:ext cx="2880360" cy="914"/>
          </a:xfrm>
          <a:prstGeom prst="line">
            <a:avLst/>
          </a:prstGeom>
          <a:noFill/>
          <a:ln w="15875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55668" y="3063240"/>
            <a:ext cx="1097280" cy="365760"/>
          </a:xfrm>
          <a:prstGeom prst="rect">
            <a:avLst/>
          </a:prstGeom>
          <a:solidFill>
            <a:srgbClr val="0E5A6E"/>
          </a:solidFill>
          <a:ln w="12700">
            <a:solidFill>
              <a:srgbClr val="0E5A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55668" y="3063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55668" y="3657600"/>
            <a:ext cx="2880360" cy="137160"/>
          </a:xfrm>
          <a:prstGeom prst="roundRect">
            <a:avLst>
              <a:gd name="adj" fmla="val 33333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5668" y="3931920"/>
            <a:ext cx="2148840" cy="137160"/>
          </a:xfrm>
          <a:prstGeom prst="roundRect">
            <a:avLst>
              <a:gd name="adj" fmla="val 33333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55668" y="4206240"/>
            <a:ext cx="2880360" cy="137160"/>
          </a:xfrm>
          <a:prstGeom prst="roundRect">
            <a:avLst>
              <a:gd name="adj" fmla="val 33333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55668" y="45262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E5A6E"/>
          </a:solidFill>
          <a:ln w="12700">
            <a:solidFill>
              <a:srgbClr val="0E5A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55668" y="45262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tender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14055" y="17830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88375" y="2057400"/>
            <a:ext cx="1097280" cy="365760"/>
          </a:xfrm>
          <a:prstGeom prst="rect">
            <a:avLst/>
          </a:prstGeom>
          <a:solidFill>
            <a:srgbClr val="0E5A6E"/>
          </a:solidFill>
          <a:ln w="12700">
            <a:solidFill>
              <a:srgbClr val="0E5A6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88375" y="2057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768535" y="20391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PO-2026-0031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8375" y="2697480"/>
          <a:ext cx="2880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1148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riyals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desk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added tax 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69,460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2"/>
          <p:cNvSpPr txBox="1"/>
          <p:nvPr/>
        </p:nvSpPr>
        <p:spPr>
          <a:xfrm>
            <a:off x="8488375" y="45262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 Finance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5257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portal on your own domain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4381348" y="5257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 in your company's name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8214055" y="5257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on your letterhead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and English, right to left, on every screen, email, and document.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action leaves a trail for the auditor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783080" y="1920240"/>
            <a:ext cx="914" cy="3291840"/>
          </a:xfrm>
          <a:prstGeom prst="line">
            <a:avLst/>
          </a:prstGeom>
          <a:noFill/>
          <a:ln w="25400">
            <a:solidFill>
              <a:srgbClr val="DCD2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Oct, 09:00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73352" y="1810512"/>
            <a:ext cx="219456" cy="219456"/>
          </a:xfrm>
          <a:prstGeom prst="ellipse">
            <a:avLst/>
          </a:prstGeom>
          <a:solidFill>
            <a:srgbClr val="5B3A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172821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tender TND-2026-014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officer  ·  IP address recorded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2441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Oct, 11:42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73352" y="2468880"/>
            <a:ext cx="219456" cy="219456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23865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 sealed offer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3 of 6  ·  IP address recorded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28600" y="3099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Oct, 14:00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73352" y="3127248"/>
            <a:ext cx="219456" cy="219456"/>
          </a:xfrm>
          <a:prstGeom prst="ellipse">
            <a:avLst/>
          </a:prstGeom>
          <a:solidFill>
            <a:srgbClr val="1713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03120" y="30449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closed, 6 offers sealed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 ·  IP address recorded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28600" y="3758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Oct, 10:15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73352" y="3785616"/>
            <a:ext cx="219456" cy="219456"/>
          </a:xfrm>
          <a:prstGeom prst="ellipse">
            <a:avLst/>
          </a:prstGeom>
          <a:solidFill>
            <a:srgbClr val="5B3A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03120" y="37033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the technical scores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officer  ·  IP address recorded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28600" y="4416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Oct, 10:31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73352" y="4443984"/>
            <a:ext cx="219456" cy="219456"/>
          </a:xfrm>
          <a:prstGeom prst="ellipse">
            <a:avLst/>
          </a:prstGeom>
          <a:solidFill>
            <a:srgbClr val="0F7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03120" y="43616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Witnessed the financial opening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approver  ·  IP address recorded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2860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Oct, 13:05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73352" y="5102352"/>
            <a:ext cx="219456" cy="219456"/>
          </a:xfrm>
          <a:prstGeom prst="ellipse">
            <a:avLst/>
          </a:prstGeom>
          <a:solidFill>
            <a:srgbClr val="0F7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03120" y="50200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the award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approver  ·  IP address recorded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543800" y="1920240"/>
            <a:ext cx="3840480" cy="4023360"/>
          </a:xfrm>
          <a:prstGeom prst="roundRect">
            <a:avLst>
              <a:gd name="adj" fmla="val 2381"/>
            </a:avLst>
          </a:prstGeom>
          <a:solidFill>
            <a:srgbClr val="DCD2EE"/>
          </a:solidFill>
          <a:ln w="12700">
            <a:solidFill>
              <a:srgbClr val="DCD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737360"/>
            <a:ext cx="3840480" cy="4023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87000" y="1417320"/>
            <a:ext cx="731520" cy="731520"/>
          </a:xfrm>
          <a:prstGeom prst="ellipse">
            <a:avLst/>
          </a:prstGeom>
          <a:solidFill>
            <a:srgbClr val="5B3A8C"/>
          </a:solidFill>
          <a:ln w="22352">
            <a:solidFill>
              <a:srgbClr val="C9A227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160020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63524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bundle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763524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PDF per tender</a:t>
            </a:r>
            <a:endParaRPr lang="en-US" sz="12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971800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001000" y="29260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invited and who submitted</a:t>
            </a:r>
            <a:endParaRPr lang="en-US" sz="13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401568"/>
            <a:ext cx="237744" cy="23774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001000" y="33558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results with reasons</a:t>
            </a:r>
            <a:endParaRPr lang="en-US" sz="13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831336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8001000" y="3785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evaluator's scores</a:t>
            </a:r>
            <a:endParaRPr lang="en-US" sz="13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4261104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001000" y="42153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comparison sheet</a:t>
            </a:r>
            <a:endParaRPr lang="en-US" sz="13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4690872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001000" y="46451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with names and times</a:t>
            </a:r>
            <a:endParaRPr lang="en-US" sz="13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5120640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001000" y="5074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event log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54864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audit, the board, and the audit committee.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changes on your next tender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566160" y="1508760"/>
            <a:ext cx="3703320" cy="36576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66160" y="15087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52360" y="1508760"/>
            <a:ext cx="4190695" cy="365760"/>
          </a:xfrm>
          <a:prstGeom prst="roundRect">
            <a:avLst>
              <a:gd name="adj" fmla="val 50000"/>
            </a:avLst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52360" y="1508760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WaslaBid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offers arrive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2011680"/>
            <a:ext cx="3703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217627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114800" y="20116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Inboxes and WhatsApp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52360" y="2011680"/>
            <a:ext cx="4190695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17627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001000" y="20116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sealed portal, with a receipt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268833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see prices early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566160" y="2688336"/>
            <a:ext cx="3703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8529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114800" y="268833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opens the email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452360" y="2688336"/>
            <a:ext cx="4190695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85292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01000" y="268833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until scores are locked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33649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 changed offers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3566160" y="3364992"/>
            <a:ext cx="3703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529584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114800" y="336499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prove either way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7452360" y="3364992"/>
            <a:ext cx="4190695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352958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001000" y="336499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by server time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40416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prices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3566160" y="4041648"/>
            <a:ext cx="3703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4206240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114800" y="40416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built by hand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7452360" y="4041648"/>
            <a:ext cx="4190695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4206240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001000" y="404164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sheet built for you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548640" y="471830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approval</a:t>
            </a:r>
            <a:endParaRPr lang="en-US" sz="1400" dirty="0"/>
          </a:p>
        </p:txBody>
      </p:sp>
      <p:sp>
        <p:nvSpPr>
          <p:cNvPr id="37" name="Shape 27"/>
          <p:cNvSpPr/>
          <p:nvPr/>
        </p:nvSpPr>
        <p:spPr>
          <a:xfrm>
            <a:off x="3566160" y="4718304"/>
            <a:ext cx="3703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4882896"/>
            <a:ext cx="237744" cy="237744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4114800" y="471830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chasing across floors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7452360" y="4718304"/>
            <a:ext cx="4190695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4882896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8001000" y="471830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approver, one click, with reason</a:t>
            </a:r>
            <a:endParaRPr lang="en-US" sz="1300" dirty="0"/>
          </a:p>
        </p:txBody>
      </p:sp>
      <p:sp>
        <p:nvSpPr>
          <p:cNvPr id="43" name="Text 31"/>
          <p:cNvSpPr txBox="1"/>
          <p:nvPr/>
        </p:nvSpPr>
        <p:spPr>
          <a:xfrm>
            <a:off x="548640" y="53949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audit</a:t>
            </a:r>
            <a:endParaRPr lang="en-US" sz="1400" dirty="0"/>
          </a:p>
        </p:txBody>
      </p:sp>
      <p:sp>
        <p:nvSpPr>
          <p:cNvPr id="44" name="Shape 32"/>
          <p:cNvSpPr/>
          <p:nvPr/>
        </p:nvSpPr>
        <p:spPr>
          <a:xfrm>
            <a:off x="3566160" y="5394960"/>
            <a:ext cx="3703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9040" y="5559552"/>
            <a:ext cx="237744" cy="2377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4114800" y="53949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from emails</a:t>
            </a:r>
            <a:endParaRPr lang="en-US" sz="1300" dirty="0"/>
          </a:p>
        </p:txBody>
      </p:sp>
      <p:sp>
        <p:nvSpPr>
          <p:cNvPr id="47" name="Shape 34"/>
          <p:cNvSpPr/>
          <p:nvPr/>
        </p:nvSpPr>
        <p:spPr>
          <a:xfrm>
            <a:off x="7452360" y="5394960"/>
            <a:ext cx="4190695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5240" y="5559552"/>
            <a:ext cx="237744" cy="237744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8001000" y="53949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as one PDF</a:t>
            </a:r>
            <a:endParaRPr lang="en-US" sz="1300" dirty="0"/>
          </a:p>
        </p:txBody>
      </p:sp>
      <p:sp>
        <p:nvSpPr>
          <p:cNvPr id="50" name="Text 36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SAUDI ARABIA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for how Saudi companies buy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58368" cy="658368"/>
          </a:xfrm>
          <a:prstGeom prst="ellipse">
            <a:avLst/>
          </a:prstGeom>
          <a:solidFill>
            <a:srgbClr val="5B3A8C"/>
          </a:solidFill>
          <a:ln w="20117">
            <a:solidFill>
              <a:srgbClr val="C9A22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7627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11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first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and English, right to left, on screens, emails, and documents.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1348" y="17373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5668" y="2011680"/>
            <a:ext cx="658368" cy="658368"/>
          </a:xfrm>
          <a:prstGeom prst="ellipse">
            <a:avLst/>
          </a:prstGeom>
          <a:solidFill>
            <a:srgbClr val="5B3A8C"/>
          </a:solidFill>
          <a:ln w="20117">
            <a:solidFill>
              <a:srgbClr val="C9A22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260" y="217627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24348" y="2011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 the Kingdom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55668" y="27889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in a Saudi cloud region, in line with the Personal Data Protection Law.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14055" y="17373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8375" y="2011680"/>
            <a:ext cx="658368" cy="658368"/>
          </a:xfrm>
          <a:prstGeom prst="ellipse">
            <a:avLst/>
          </a:prstGeom>
          <a:solidFill>
            <a:srgbClr val="5B3A8C"/>
          </a:solidFill>
          <a:ln w="20117">
            <a:solidFill>
              <a:srgbClr val="C9A22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967" y="21762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57055" y="2011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vendor records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88375" y="27889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registration and VAT captured at sign-up; expired documents block submission.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160520"/>
            <a:ext cx="658368" cy="658368"/>
          </a:xfrm>
          <a:prstGeom prst="ellipse">
            <a:avLst/>
          </a:prstGeom>
          <a:solidFill>
            <a:srgbClr val="5B3A8C"/>
          </a:solidFill>
          <a:ln w="20117">
            <a:solidFill>
              <a:srgbClr val="C9A22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91640" y="41605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on the phone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9377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submit from a phone, on a weak connection, without installing anything.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81348" y="38862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55668" y="4160520"/>
            <a:ext cx="658368" cy="658368"/>
          </a:xfrm>
          <a:prstGeom prst="ellipse">
            <a:avLst/>
          </a:prstGeom>
          <a:solidFill>
            <a:srgbClr val="5B3A8C"/>
          </a:solidFill>
          <a:ln w="20117">
            <a:solidFill>
              <a:srgbClr val="C9A22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260" y="432511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524348" y="41605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never pay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55668" y="49377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 to register or submit, so more of your vendors take part.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214055" y="38862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8375" y="4160520"/>
            <a:ext cx="658368" cy="658368"/>
          </a:xfrm>
          <a:prstGeom prst="ellipse">
            <a:avLst/>
          </a:prstGeom>
          <a:solidFill>
            <a:srgbClr val="5B3A8C"/>
          </a:solidFill>
          <a:ln w="20117">
            <a:solidFill>
              <a:srgbClr val="C9A22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2967" y="432511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357055" y="41605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 day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488375" y="49377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implementation project. We set up your first tender with you.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ROADMAP: AI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drafts. A named person decides.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65860" y="1920240"/>
            <a:ext cx="1097280" cy="1097280"/>
          </a:xfrm>
          <a:prstGeom prst="ellipse">
            <a:avLst/>
          </a:prstGeom>
          <a:solidFill>
            <a:srgbClr val="FFFFFF"/>
          </a:solidFill>
          <a:ln w="33528">
            <a:solidFill>
              <a:srgbClr val="DCD2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194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offers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844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Excel,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or English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00300" y="2468880"/>
            <a:ext cx="1549298" cy="914"/>
          </a:xfrm>
          <a:prstGeom prst="line">
            <a:avLst/>
          </a:prstGeom>
          <a:noFill/>
          <a:ln w="25400">
            <a:solidFill>
              <a:srgbClr val="5B3A8C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086758" y="1920240"/>
            <a:ext cx="1097280" cy="1097280"/>
          </a:xfrm>
          <a:prstGeom prst="ellipse">
            <a:avLst/>
          </a:prstGeom>
          <a:solidFill>
            <a:srgbClr val="5B3A8C"/>
          </a:solidFill>
          <a:ln w="33528">
            <a:solidFill>
              <a:srgbClr val="C9A22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078" y="21945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69538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69538" y="35844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check, requirement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price sanity check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321198" y="2468880"/>
            <a:ext cx="1549298" cy="914"/>
          </a:xfrm>
          <a:prstGeom prst="line">
            <a:avLst/>
          </a:prstGeom>
          <a:noFill/>
          <a:ln w="25400">
            <a:solidFill>
              <a:srgbClr val="5B3A8C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007657" y="1920240"/>
            <a:ext cx="1097280" cy="1097280"/>
          </a:xfrm>
          <a:prstGeom prst="ellipse">
            <a:avLst/>
          </a:prstGeom>
          <a:solidFill>
            <a:srgbClr val="FFFFFF"/>
          </a:solidFill>
          <a:ln w="33528">
            <a:solidFill>
              <a:srgbClr val="DCD2E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977" y="21945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90437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evaluator decides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90437" y="35844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Accepts, edits, or overrides,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reason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42097" y="2468880"/>
            <a:ext cx="1549298" cy="914"/>
          </a:xfrm>
          <a:prstGeom prst="line">
            <a:avLst/>
          </a:prstGeom>
          <a:noFill/>
          <a:ln w="25400">
            <a:solidFill>
              <a:srgbClr val="5B3A8C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9928555" y="1920240"/>
            <a:ext cx="1097280" cy="1097280"/>
          </a:xfrm>
          <a:prstGeom prst="ellipse">
            <a:avLst/>
          </a:prstGeom>
          <a:solidFill>
            <a:srgbClr val="FFFFFF"/>
          </a:solidFill>
          <a:ln w="33528">
            <a:solidFill>
              <a:srgbClr val="DCD2E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2875" y="219456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11335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for audit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311335" y="35844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draft stored with 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prompt version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466344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74920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25880" y="4892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awards, rejects, or changes a score</a:t>
            </a:r>
            <a:endParaRPr lang="en-US" sz="12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5074920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937760" y="4892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prices only after technical scores are locked</a:t>
            </a:r>
            <a:endParaRPr lang="en-US" sz="12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5074920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549640" y="4892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reviewed by the same prompt, in one batch</a:t>
            </a:r>
            <a:endParaRPr lang="en-US" sz="1250" dirty="0"/>
          </a:p>
        </p:txBody>
      </p:sp>
      <p:sp>
        <p:nvSpPr>
          <p:cNvPr id="30" name="Text 21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flat price per company, not per user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91840" cy="3703320"/>
          </a:xfrm>
          <a:prstGeom prst="roundRect">
            <a:avLst>
              <a:gd name="adj" fmla="val 3333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SAR / month</a:t>
            </a:r>
            <a:endParaRPr lang="en-US" sz="3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566160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3493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open tenders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02336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950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staff users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48056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4407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portal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93776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4864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envelopes and audit log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449928" y="1600200"/>
            <a:ext cx="3291840" cy="4069080"/>
          </a:xfrm>
          <a:prstGeom prst="roundRect">
            <a:avLst>
              <a:gd name="adj" fmla="val 3889"/>
            </a:avLst>
          </a:prstGeom>
          <a:solidFill>
            <a:srgbClr val="5B3A8C"/>
          </a:solidFill>
          <a:ln w="31750">
            <a:solidFill>
              <a:srgbClr val="C9A22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141568" y="187452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141568" y="1874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chosen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4769968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4769968" y="2377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</a:t>
            </a:r>
            <a:pPr indent="0" marL="0">
              <a:buNone/>
            </a:pPr>
            <a:r>
              <a:rPr lang="en-US" sz="1300" dirty="0">
                <a:solidFill>
                  <a:srgbClr val="D6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SAR / month</a:t>
            </a:r>
            <a:endParaRPr lang="en-US" sz="38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400" y="338328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135728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open tenders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7400" y="3840480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135728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staff users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7400" y="4297680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135728" y="4224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domain</a:t>
            </a:r>
            <a:endParaRPr lang="en-US" sz="13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7400" y="4754880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135728" y="4681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approval chain and single sign-on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8351215" y="1783080"/>
            <a:ext cx="3291840" cy="3703320"/>
          </a:xfrm>
          <a:prstGeom prst="roundRect">
            <a:avLst>
              <a:gd name="adj" fmla="val 3333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19"/>
          <p:cNvSpPr txBox="1"/>
          <p:nvPr/>
        </p:nvSpPr>
        <p:spPr>
          <a:xfrm>
            <a:off x="8671255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800" dirty="0"/>
          </a:p>
        </p:txBody>
      </p:sp>
      <p:sp>
        <p:nvSpPr>
          <p:cNvPr id="30" name="Text 20"/>
          <p:cNvSpPr txBox="1"/>
          <p:nvPr/>
        </p:nvSpPr>
        <p:spPr>
          <a:xfrm>
            <a:off x="8671255" y="2560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SAR / month</a:t>
            </a:r>
            <a:endParaRPr lang="en-US" sz="38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8687" y="3566160"/>
            <a:ext cx="201168" cy="201168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037015" y="3493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tenders and users</a:t>
            </a:r>
            <a:endParaRPr lang="en-US" sz="13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8687" y="4023360"/>
            <a:ext cx="201168" cy="201168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9037015" y="3950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export</a:t>
            </a:r>
            <a:endParaRPr lang="en-US" sz="13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98687" y="4480560"/>
            <a:ext cx="201168" cy="201168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9037015" y="4407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offer review</a:t>
            </a:r>
            <a:endParaRPr lang="en-US" sz="13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8687" y="4937760"/>
            <a:ext cx="201168" cy="201168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9037015" y="4864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30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5943600"/>
            <a:ext cx="292608" cy="292608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960120" y="5916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tender free</a:t>
            </a:r>
            <a:endParaRPr lang="en-US" sz="130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7560" y="5943600"/>
            <a:ext cx="292608" cy="292608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3749040" y="5916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never pay</a:t>
            </a:r>
            <a:endParaRPr lang="en-US" sz="130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26480" y="5943600"/>
            <a:ext cx="292608" cy="292608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6537960" y="5916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plan: two months free</a:t>
            </a:r>
            <a:endParaRPr lang="en-US" sz="130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15400" y="5943600"/>
            <a:ext cx="292608" cy="292608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9326880" y="5916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exclude 15% VAT</a:t>
            </a:r>
            <a:endParaRPr lang="en-US" sz="1300" dirty="0"/>
          </a:p>
        </p:txBody>
      </p:sp>
      <p:sp>
        <p:nvSpPr>
          <p:cNvPr id="47" name="Text 29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CUSTOMER PILOT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your next tender on WaslaBid, free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41D42"/>
          </a:solidFill>
          <a:ln w="12700">
            <a:solidFill>
              <a:srgbClr val="7A56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777240" cy="777240"/>
          </a:xfrm>
          <a:prstGeom prst="ellipse">
            <a:avLst/>
          </a:prstGeom>
          <a:solidFill>
            <a:srgbClr val="5B3A8C"/>
          </a:solidFill>
          <a:ln w="23749">
            <a:solidFill>
              <a:srgbClr val="C9A22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3431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31720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demo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20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logo and colours already loaded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090672" y="3200400"/>
            <a:ext cx="290474" cy="914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08578" y="187452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41D42"/>
          </a:solidFill>
          <a:ln w="12700">
            <a:solidFill>
              <a:srgbClr val="7A56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82898" y="2148840"/>
            <a:ext cx="777240" cy="777240"/>
          </a:xfrm>
          <a:prstGeom prst="ellipse">
            <a:avLst/>
          </a:prstGeom>
          <a:solidFill>
            <a:srgbClr val="5B3A8C"/>
          </a:solidFill>
          <a:ln w="23749">
            <a:solidFill>
              <a:srgbClr val="C9A22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208" y="234315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91658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3682898" y="3108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it up together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82898" y="3520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tender, your criteria, your approvers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950610" y="3200400"/>
            <a:ext cx="290474" cy="914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268517" y="187452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41D42"/>
          </a:solidFill>
          <a:ln w="12700">
            <a:solidFill>
              <a:srgbClr val="7A56B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42837" y="2148840"/>
            <a:ext cx="777240" cy="777240"/>
          </a:xfrm>
          <a:prstGeom prst="ellipse">
            <a:avLst/>
          </a:prstGeom>
          <a:solidFill>
            <a:srgbClr val="5B3A8C"/>
          </a:solidFill>
          <a:ln w="23749">
            <a:solidFill>
              <a:srgbClr val="C9A22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147" y="2343150"/>
            <a:ext cx="388620" cy="3886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051597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6542837" y="3108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your vendors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542837" y="3520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register free and submit sealed offers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810549" y="3200400"/>
            <a:ext cx="290474" cy="914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128455" y="187452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41D42"/>
          </a:solidFill>
          <a:ln w="12700">
            <a:solidFill>
              <a:srgbClr val="7A56B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402775" y="2148840"/>
            <a:ext cx="777240" cy="777240"/>
          </a:xfrm>
          <a:prstGeom prst="ellipse">
            <a:avLst/>
          </a:prstGeom>
          <a:solidFill>
            <a:srgbClr val="5B3A8C"/>
          </a:solidFill>
          <a:ln w="23749">
            <a:solidFill>
              <a:srgbClr val="C9A227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7085" y="2343150"/>
            <a:ext cx="388620" cy="3886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911535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9" name="Text 23"/>
          <p:cNvSpPr txBox="1"/>
          <p:nvPr/>
        </p:nvSpPr>
        <p:spPr>
          <a:xfrm>
            <a:off x="9402775" y="3108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and review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9402775" y="3520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issued; review with your finance manager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4983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customers help shape the product and keep their founding price.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Assaf  ·  Founder, WaslaBid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B8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WaslaBid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WaslaBid for buyers</dc:title>
  <dc:subject>PptxGenJS Presentation</dc:subject>
  <dc:creator>PptxGenJS</dc:creator>
  <cp:lastModifiedBy>PptxGenJS</cp:lastModifiedBy>
  <cp:revision>1</cp:revision>
  <dcterms:created xsi:type="dcterms:W3CDTF">2026-09-26T00:18:38Z</dcterms:created>
  <dcterms:modified xsi:type="dcterms:W3CDTF">2026-09-26T00:18:38Z</dcterms:modified>
</cp:coreProperties>
</file>