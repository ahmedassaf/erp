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7132B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17132B"/>
                </a:solidFill>
                <a:latin typeface="Calibri"/>
              </a:rPr>
              <a:t>Referral fees, Saudi riyals, first year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plan</c:v>
                </c:pt>
              </c:strCache>
            </c:strRef>
          </c:tx>
          <c:spPr>
            <a:solidFill>
              <a:srgbClr val="7A56B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 clients</c:v>
                  </c:pt>
                  <c:pt idx="1">
                    <c:v>10 clients</c:v>
                  </c:pt>
                  <c:pt idx="2">
                    <c:v>20 clients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35000</c:v>
                </c:pt>
                <c:pt idx="1">
                  <c:v>70000</c:v>
                </c:pt>
                <c:pt idx="2">
                  <c:v>140000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 plan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5 clients</c:v>
                  </c:pt>
                  <c:pt idx="1">
                    <c:v>10 clients</c:v>
                  </c:pt>
                  <c:pt idx="2">
                    <c:v>20 clients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75000</c:v>
                </c:pt>
                <c:pt idx="1">
                  <c:v>150000</c:v>
                </c:pt>
                <c:pt idx="2">
                  <c:v>300000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9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933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6480" y="502920"/>
            <a:ext cx="5852160" cy="5852160"/>
          </a:xfrm>
          <a:prstGeom prst="ellipse">
            <a:avLst/>
          </a:prstGeom>
          <a:solidFill>
            <a:srgbClr val="5B3A8C">
              <a:alpha val="15000"/>
            </a:srgbClr>
          </a:solidFill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766560" y="1143000"/>
            <a:ext cx="4572000" cy="4572000"/>
          </a:xfrm>
          <a:prstGeom prst="ellipse">
            <a:avLst/>
          </a:prstGeom>
          <a:solidFill>
            <a:srgbClr val="5B3A8C">
              <a:alpha val="30000"/>
            </a:srgbClr>
          </a:solidFill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783080"/>
            <a:ext cx="3291840" cy="3291840"/>
          </a:xfrm>
          <a:prstGeom prst="ellipse">
            <a:avLst/>
          </a:prstGeom>
          <a:solidFill>
            <a:srgbClr val="5B3A8C">
              <a:alpha val="60000"/>
            </a:srgbClr>
          </a:solidFill>
          <a:ln w="9525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0" y="2423160"/>
            <a:ext cx="2011680" cy="2011680"/>
          </a:xfrm>
          <a:prstGeom prst="ellipse">
            <a:avLst/>
          </a:prstGeom>
          <a:solidFill>
            <a:srgbClr val="5B3A8C"/>
          </a:solidFill>
          <a:ln w="61468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0" y="292608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48640" y="6400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Wasla</a:t>
            </a:r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Bid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1887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1800" dirty="0">
                <a:solidFill>
                  <a:srgbClr val="B8B0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وصلة بد</a:t>
            </a:r>
            <a:endParaRPr lang="ar-SA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3317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PROGRAMME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651760"/>
            <a:ext cx="6583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Bring fair tenders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your clients.</a:t>
            </a:r>
            <a:endParaRPr lang="en-US" sz="4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52628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6D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white-label tender-to-purchase-order platform for Saudi mid-size companies, and a founding partner programme for the firms that advise them.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86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audit and advisory firms, ERP implementers, and technology partners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Thousands still tender on email and Excel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18,723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971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enterprises in Saudi Arabia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Monshaat, Q4 2023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81348" y="17830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701388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~4,000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4701388" y="2971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private companies, 250+ staff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701388" y="3794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WaslaBid estimate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14055" y="17830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534095" y="20116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70M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8534095" y="2971800"/>
            <a:ext cx="2788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procurement software market, growing 10.3% a year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534095" y="379476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Insights, 2025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61772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17132B"/>
          </a:solidFill>
          <a:ln w="12700">
            <a:solidFill>
              <a:srgbClr val="17132B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4892040"/>
            <a:ext cx="822960" cy="822960"/>
          </a:xfrm>
          <a:prstGeom prst="ellipse">
            <a:avLst/>
          </a:prstGeom>
          <a:solidFill>
            <a:srgbClr val="5B3A8C"/>
          </a:solidFill>
          <a:ln w="25146">
            <a:solidFill>
              <a:srgbClr val="C9A227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" y="5097780"/>
            <a:ext cx="411480" cy="411480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965960" y="4709160"/>
            <a:ext cx="9357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competitor is Excel.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comes from companies that use no tool today, and the pressure is rising: audit committees, pre-IPO governance, and 70% Saudisation of procurement roles from late 2025.</a:t>
            </a:r>
            <a:endParaRPr lang="en-US" sz="1450" dirty="0"/>
          </a:p>
        </p:txBody>
      </p:sp>
      <p:sp>
        <p:nvSpPr>
          <p:cNvPr id="20" name="Text 1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empty corner of the market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1645920"/>
            <a:ext cx="3383280" cy="2240280"/>
          </a:xfrm>
          <a:prstGeom prst="rect">
            <a:avLst/>
          </a:prstGeom>
          <a:solidFill>
            <a:srgbClr val="EFEAF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Priced for the mid-market,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vendor workflow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63440" y="1645920"/>
            <a:ext cx="3383280" cy="2240280"/>
          </a:xfrm>
          <a:prstGeom prst="rect">
            <a:avLst/>
          </a:prstGeom>
          <a:solidFill>
            <a:srgbClr val="ECEFF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46320" y="17830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suites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280160" y="3886200"/>
            <a:ext cx="3383280" cy="2240280"/>
          </a:xfrm>
          <a:prstGeom prst="rect">
            <a:avLst/>
          </a:prstGeom>
          <a:solidFill>
            <a:srgbClr val="ECEFF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Excel, ERP add-ons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3886200"/>
            <a:ext cx="3383280" cy="2240280"/>
          </a:xfrm>
          <a:prstGeom prst="rect">
            <a:avLst/>
          </a:prstGeom>
          <a:solidFill>
            <a:srgbClr val="ECEFF4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4023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Over-built for the segment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280160" y="6263640"/>
            <a:ext cx="6766560" cy="914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1280160" y="63093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implementation effort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 flipV="1">
            <a:off x="1143000" y="1645920"/>
            <a:ext cx="914" cy="4480560"/>
          </a:xfrm>
          <a:prstGeom prst="line">
            <a:avLst/>
          </a:prstGeom>
          <a:noFill/>
          <a:ln w="15875">
            <a:solidFill>
              <a:srgbClr val="5F6B7A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 rot="16200000">
            <a:off x="-731520" y="3749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experience and workflow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69480" y="1993392"/>
            <a:ext cx="201168" cy="201168"/>
          </a:xfrm>
          <a:prstGeom prst="ellipse">
            <a:avLst/>
          </a:prstGeom>
          <a:solidFill>
            <a:srgbClr val="5F6B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58384" y="1865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suites</a:t>
            </a:r>
            <a:endParaRPr lang="en-US" sz="1050" dirty="0"/>
          </a:p>
          <a:p>
            <a:pPr algn="r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Ariba, Coupa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10174" y="2620670"/>
            <a:ext cx="201168" cy="201168"/>
          </a:xfrm>
          <a:prstGeom prst="ellipse">
            <a:avLst/>
          </a:prstGeom>
          <a:solidFill>
            <a:srgbClr val="5F6B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75350" y="249265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enterprise</a:t>
            </a:r>
            <a:endParaRPr lang="en-US" sz="1050" dirty="0"/>
          </a:p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36515" y="4412894"/>
            <a:ext cx="201168" cy="201168"/>
          </a:xfrm>
          <a:prstGeom prst="ellipse">
            <a:avLst/>
          </a:prstGeom>
          <a:solidFill>
            <a:srgbClr val="5F6B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301691" y="428487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vendor portal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074213" y="4547311"/>
            <a:ext cx="201168" cy="201168"/>
          </a:xfrm>
          <a:prstGeom prst="ellipse">
            <a:avLst/>
          </a:prstGeom>
          <a:solidFill>
            <a:srgbClr val="5F6B7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339389" y="4419295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 tender modules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53235" y="5712257"/>
            <a:ext cx="201168" cy="201168"/>
          </a:xfrm>
          <a:prstGeom prst="ellipse">
            <a:avLst/>
          </a:prstGeom>
          <a:solidFill>
            <a:srgbClr val="B4231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18411" y="5584241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Excel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38374" y="2176272"/>
            <a:ext cx="731520" cy="731520"/>
          </a:xfrm>
          <a:prstGeom prst="ellipse">
            <a:avLst/>
          </a:prstGeom>
          <a:solidFill>
            <a:srgbClr val="5B3A8C"/>
          </a:solidFill>
          <a:ln w="22352">
            <a:solidFill>
              <a:srgbClr val="C9A227"/>
            </a:solidFill>
            <a:prstDash val="solid"/>
          </a:ln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21254" y="2359152"/>
            <a:ext cx="365760" cy="36576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3361334" y="23591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WaslaBid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85039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corner is empty</a:t>
            </a:r>
            <a:endParaRPr lang="en-US" sz="1700" dirty="0"/>
          </a:p>
        </p:txBody>
      </p:sp>
      <p:sp>
        <p:nvSpPr>
          <p:cNvPr id="30" name="Text 27"/>
          <p:cNvSpPr txBox="1"/>
          <p:nvPr/>
        </p:nvSpPr>
        <p:spPr>
          <a:xfrm>
            <a:off x="8503920" y="224028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suites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around SAR 187,500 a year and need an implementation partner.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8503920" y="342900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add-ons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cheap but buyer-side: no sealed vendor portal, no evaluation chain.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503920" y="4617720"/>
            <a:ext cx="3154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and Excel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free, and cannot prove a tender was fair.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your clients get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188720" y="2537460"/>
            <a:ext cx="9814255" cy="914"/>
          </a:xfrm>
          <a:prstGeom prst="line">
            <a:avLst/>
          </a:prstGeom>
          <a:noFill/>
          <a:ln w="38100">
            <a:solidFill>
              <a:srgbClr val="DCD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54380" y="21031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550" y="2320290"/>
            <a:ext cx="434340" cy="4343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21892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11480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Tender, bill of quantities, criteria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390089" y="21031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259" y="2320290"/>
            <a:ext cx="434340" cy="4343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057601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2047189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Invite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047189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link to each vendor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2275789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2275789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025798" y="2103120"/>
            <a:ext cx="868680" cy="868680"/>
          </a:xfrm>
          <a:prstGeom prst="ellipse">
            <a:avLst/>
          </a:prstGeom>
          <a:solidFill>
            <a:srgbClr val="5B3A8C"/>
          </a:solidFill>
          <a:ln w="26543">
            <a:solidFill>
              <a:srgbClr val="C9A22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2968" y="2320290"/>
            <a:ext cx="434340" cy="4343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4693310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3682898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offers</a:t>
            </a:r>
            <a:endParaRPr lang="en-US" sz="1400" dirty="0"/>
          </a:p>
        </p:txBody>
      </p:sp>
      <p:sp>
        <p:nvSpPr>
          <p:cNvPr id="23" name="Text 18"/>
          <p:cNvSpPr txBox="1"/>
          <p:nvPr/>
        </p:nvSpPr>
        <p:spPr>
          <a:xfrm>
            <a:off x="3682898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and financial, apart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3911498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F4ECD2"/>
          </a:solidFill>
          <a:ln w="12700">
            <a:solidFill>
              <a:srgbClr val="F4ECD2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911498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661508" y="21031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8678" y="2320290"/>
            <a:ext cx="434340" cy="4343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329020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5318608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</a:t>
            </a:r>
            <a:endParaRPr lang="en-US" sz="1400" dirty="0"/>
          </a:p>
        </p:txBody>
      </p:sp>
      <p:sp>
        <p:nvSpPr>
          <p:cNvPr id="30" name="Text 24"/>
          <p:cNvSpPr txBox="1"/>
          <p:nvPr/>
        </p:nvSpPr>
        <p:spPr>
          <a:xfrm>
            <a:off x="5318608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checklist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5547208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5547208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7297217" y="2103120"/>
            <a:ext cx="868680" cy="868680"/>
          </a:xfrm>
          <a:prstGeom prst="ellipse">
            <a:avLst/>
          </a:prstGeom>
          <a:solidFill>
            <a:srgbClr val="5B3A8C"/>
          </a:solidFill>
          <a:ln w="26543">
            <a:solidFill>
              <a:srgbClr val="C9A227"/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4387" y="2320290"/>
            <a:ext cx="434340" cy="43434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7964729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6954317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and lock</a:t>
            </a:r>
            <a:endParaRPr lang="en-US" sz="1400" dirty="0"/>
          </a:p>
        </p:txBody>
      </p:sp>
      <p:sp>
        <p:nvSpPr>
          <p:cNvPr id="37" name="Text 30"/>
          <p:cNvSpPr txBox="1"/>
          <p:nvPr/>
        </p:nvSpPr>
        <p:spPr>
          <a:xfrm>
            <a:off x="6954317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 score, then lock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7182917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6EEFB"/>
          </a:solidFill>
          <a:ln w="12700">
            <a:solidFill>
              <a:srgbClr val="E6EEFB"/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7182917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5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Evaluators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8932926" y="21031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0096" y="2320290"/>
            <a:ext cx="434340" cy="43434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9600438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8590026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prices</a:t>
            </a:r>
            <a:endParaRPr lang="en-US" sz="1400" dirty="0"/>
          </a:p>
        </p:txBody>
      </p:sp>
      <p:sp>
        <p:nvSpPr>
          <p:cNvPr id="44" name="Text 36"/>
          <p:cNvSpPr txBox="1"/>
          <p:nvPr/>
        </p:nvSpPr>
        <p:spPr>
          <a:xfrm>
            <a:off x="8590026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sheet built for you</a:t>
            </a:r>
            <a:endParaRPr lang="en-US" sz="1100" dirty="0"/>
          </a:p>
        </p:txBody>
      </p:sp>
      <p:sp>
        <p:nvSpPr>
          <p:cNvPr id="45" name="Shape 37"/>
          <p:cNvSpPr/>
          <p:nvPr/>
        </p:nvSpPr>
        <p:spPr>
          <a:xfrm>
            <a:off x="8818626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8818626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47" name="Shape 39"/>
          <p:cNvSpPr/>
          <p:nvPr/>
        </p:nvSpPr>
        <p:spPr>
          <a:xfrm>
            <a:off x="10568635" y="2103120"/>
            <a:ext cx="868680" cy="868680"/>
          </a:xfrm>
          <a:prstGeom prst="ellipse">
            <a:avLst/>
          </a:prstGeom>
          <a:solidFill>
            <a:srgbClr val="FFFFFF"/>
          </a:solidFill>
          <a:ln w="26543">
            <a:solidFill>
              <a:srgbClr val="DCD2EE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5805" y="2320290"/>
            <a:ext cx="434340" cy="43434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1236147" y="2011680"/>
            <a:ext cx="292608" cy="292608"/>
          </a:xfrm>
          <a:prstGeom prst="ellipse">
            <a:avLst/>
          </a:prstGeom>
          <a:solidFill>
            <a:srgbClr val="1713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1"/>
          <p:cNvSpPr txBox="1"/>
          <p:nvPr/>
        </p:nvSpPr>
        <p:spPr>
          <a:xfrm>
            <a:off x="10225735" y="31089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and PO</a:t>
            </a:r>
            <a:endParaRPr lang="en-US" sz="1400" dirty="0"/>
          </a:p>
        </p:txBody>
      </p:sp>
      <p:sp>
        <p:nvSpPr>
          <p:cNvPr id="51" name="Text 42"/>
          <p:cNvSpPr txBox="1"/>
          <p:nvPr/>
        </p:nvSpPr>
        <p:spPr>
          <a:xfrm>
            <a:off x="10225735" y="342900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purchase order</a:t>
            </a:r>
            <a:endParaRPr lang="en-US" sz="1100" dirty="0"/>
          </a:p>
        </p:txBody>
      </p:sp>
      <p:sp>
        <p:nvSpPr>
          <p:cNvPr id="52" name="Shape 43"/>
          <p:cNvSpPr/>
          <p:nvPr/>
        </p:nvSpPr>
        <p:spPr>
          <a:xfrm>
            <a:off x="10454335" y="4023360"/>
            <a:ext cx="1097280" cy="274320"/>
          </a:xfrm>
          <a:prstGeom prst="roundRect">
            <a:avLst>
              <a:gd name="adj" fmla="val 50000"/>
            </a:avLst>
          </a:prstGeom>
          <a:solidFill>
            <a:srgbClr val="E3F2EA"/>
          </a:solidFill>
          <a:ln w="12700">
            <a:solidFill>
              <a:srgbClr val="E3F2EA"/>
            </a:solidFill>
            <a:prstDash val="solid"/>
          </a:ln>
        </p:spPr>
      </p:sp>
      <p:sp>
        <p:nvSpPr>
          <p:cNvPr id="53" name="Text 44"/>
          <p:cNvSpPr txBox="1"/>
          <p:nvPr/>
        </p:nvSpPr>
        <p:spPr>
          <a:xfrm>
            <a:off x="10454335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000" dirty="0"/>
          </a:p>
        </p:txBody>
      </p:sp>
      <p:sp>
        <p:nvSpPr>
          <p:cNvPr id="54" name="Shape 45"/>
          <p:cNvSpPr/>
          <p:nvPr/>
        </p:nvSpPr>
        <p:spPr>
          <a:xfrm>
            <a:off x="548640" y="5349240"/>
            <a:ext cx="548640" cy="548640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5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" y="5486400"/>
            <a:ext cx="274320" cy="27432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1234440" y="5303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prices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encryption key</a:t>
            </a:r>
            <a:endParaRPr lang="en-US" sz="1350" dirty="0"/>
          </a:p>
        </p:txBody>
      </p:sp>
      <p:sp>
        <p:nvSpPr>
          <p:cNvPr id="57" name="Shape 47"/>
          <p:cNvSpPr/>
          <p:nvPr/>
        </p:nvSpPr>
        <p:spPr>
          <a:xfrm>
            <a:off x="3337560" y="5349240"/>
            <a:ext cx="548640" cy="548640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74720" y="5486400"/>
            <a:ext cx="274320" cy="274320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4023360" y="5303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own brand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domain, emails, purchase order</a:t>
            </a:r>
            <a:endParaRPr lang="en-US" sz="1350" dirty="0"/>
          </a:p>
        </p:txBody>
      </p:sp>
      <p:sp>
        <p:nvSpPr>
          <p:cNvPr id="60" name="Shape 49"/>
          <p:cNvSpPr/>
          <p:nvPr/>
        </p:nvSpPr>
        <p:spPr>
          <a:xfrm>
            <a:off x="6126480" y="5349240"/>
            <a:ext cx="548640" cy="548640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63640" y="5486400"/>
            <a:ext cx="274320" cy="274320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6812280" y="5303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bundle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PDF per tender</a:t>
            </a:r>
            <a:endParaRPr lang="en-US" sz="1350" dirty="0"/>
          </a:p>
        </p:txBody>
      </p:sp>
      <p:sp>
        <p:nvSpPr>
          <p:cNvPr id="63" name="Shape 51"/>
          <p:cNvSpPr/>
          <p:nvPr/>
        </p:nvSpPr>
        <p:spPr>
          <a:xfrm>
            <a:off x="8915400" y="5349240"/>
            <a:ext cx="548640" cy="548640"/>
          </a:xfrm>
          <a:prstGeom prst="ellipse">
            <a:avLst/>
          </a:prstGeom>
          <a:solidFill>
            <a:srgbClr val="EFEAF7"/>
          </a:solidFill>
          <a:ln w="19050">
            <a:solidFill>
              <a:srgbClr val="DCD2EE"/>
            </a:solidFill>
            <a:prstDash val="solid"/>
          </a:ln>
        </p:spPr>
      </p:sp>
      <p:pic>
        <p:nvPicPr>
          <p:cNvPr id="6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52560" y="5486400"/>
            <a:ext cx="274320" cy="274320"/>
          </a:xfrm>
          <a:prstGeom prst="rect">
            <a:avLst/>
          </a:prstGeom>
        </p:spPr>
      </p:pic>
      <p:sp>
        <p:nvSpPr>
          <p:cNvPr id="65" name="Text 52"/>
          <p:cNvSpPr txBox="1"/>
          <p:nvPr/>
        </p:nvSpPr>
        <p:spPr>
          <a:xfrm>
            <a:off x="9601200" y="53035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in Saudi Arabia</a:t>
            </a:r>
            <a:endParaRPr lang="en-US" sz="1350" dirty="0"/>
          </a:p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first</a:t>
            </a:r>
            <a:endParaRPr lang="en-US" sz="1350" dirty="0"/>
          </a:p>
        </p:txBody>
      </p:sp>
      <p:sp>
        <p:nvSpPr>
          <p:cNvPr id="66" name="Text 53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PARTNER WITH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kinds of partner, one shared client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06040" cy="4160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822960" cy="822960"/>
          </a:xfrm>
          <a:prstGeom prst="ellipse">
            <a:avLst/>
          </a:prstGeom>
          <a:solidFill>
            <a:srgbClr val="5B3A8C"/>
          </a:solidFill>
          <a:ln w="25146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22631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and advisory firms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7947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find the governance gap in a client's procurement. WaslaBid closes it.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22960" y="525780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F4ECD2"/>
          </a:solidFill>
          <a:ln w="12700">
            <a:solidFill>
              <a:srgbClr val="F4ECD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5257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fee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378098" y="1737360"/>
            <a:ext cx="2606040" cy="4160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2418" y="2057400"/>
            <a:ext cx="822960" cy="822960"/>
          </a:xfrm>
          <a:prstGeom prst="ellipse">
            <a:avLst/>
          </a:prstGeom>
          <a:solidFill>
            <a:srgbClr val="5B3A8C"/>
          </a:solidFill>
          <a:ln w="25146">
            <a:solidFill>
              <a:srgbClr val="C9A22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158" y="226314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2418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implementers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3652418" y="37947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Odoo, SAP Business One, Dynamics. We deliver a clean purchase order into the ERP you run.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652418" y="525780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F4ECD2"/>
          </a:solidFill>
          <a:ln w="12700">
            <a:solidFill>
              <a:srgbClr val="F4ECD2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3652418" y="5257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and connector projects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07557" y="1737360"/>
            <a:ext cx="2606040" cy="41605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81877" y="2057400"/>
            <a:ext cx="822960" cy="822960"/>
          </a:xfrm>
          <a:prstGeom prst="ellipse">
            <a:avLst/>
          </a:prstGeom>
          <a:solidFill>
            <a:srgbClr val="5B3A8C"/>
          </a:solidFill>
          <a:ln w="25146">
            <a:solidFill>
              <a:srgbClr val="C9A22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7617" y="226314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481877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and data</a:t>
            </a:r>
            <a:endParaRPr lang="en-US" sz="1600" dirty="0"/>
          </a:p>
        </p:txBody>
      </p:sp>
      <p:sp>
        <p:nvSpPr>
          <p:cNvPr id="22" name="Text 17"/>
          <p:cNvSpPr txBox="1"/>
          <p:nvPr/>
        </p:nvSpPr>
        <p:spPr>
          <a:xfrm>
            <a:off x="6481877" y="37947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registration checks, e-signature, messaging, Saudi cloud hosting.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6481877" y="525780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F4ECD2"/>
          </a:solidFill>
          <a:ln w="12700">
            <a:solidFill>
              <a:srgbClr val="F4ECD2"/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481877" y="5257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usage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037015" y="1737360"/>
            <a:ext cx="2606040" cy="4160520"/>
          </a:xfrm>
          <a:prstGeom prst="roundRect">
            <a:avLst>
              <a:gd name="adj" fmla="val 4211"/>
            </a:avLst>
          </a:prstGeom>
          <a:solidFill>
            <a:srgbClr val="F7F6FB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311335" y="2057400"/>
            <a:ext cx="822960" cy="822960"/>
          </a:xfrm>
          <a:prstGeom prst="ellipse">
            <a:avLst/>
          </a:prstGeom>
          <a:solidFill>
            <a:srgbClr val="FFFFFF"/>
          </a:solidFill>
          <a:ln w="25146">
            <a:solidFill>
              <a:srgbClr val="DCD2EE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7075" y="2263140"/>
            <a:ext cx="411480" cy="4114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311335" y="3063240"/>
            <a:ext cx="2057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Licensed finance partners</a:t>
            </a:r>
            <a:endParaRPr lang="en-US" sz="1600" dirty="0"/>
          </a:p>
        </p:txBody>
      </p:sp>
      <p:sp>
        <p:nvSpPr>
          <p:cNvPr id="29" name="Text 23"/>
          <p:cNvSpPr txBox="1"/>
          <p:nvPr/>
        </p:nvSpPr>
        <p:spPr>
          <a:xfrm>
            <a:off x="9311335" y="37947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 and invoice finance for vendors, only with the vendor's consent.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311335" y="5257800"/>
            <a:ext cx="2057400" cy="365760"/>
          </a:xfrm>
          <a:prstGeom prst="roundRect">
            <a:avLst>
              <a:gd name="adj" fmla="val 50000"/>
            </a:avLst>
          </a:prstGeom>
          <a:solidFill>
            <a:srgbClr val="EFEAF7"/>
          </a:solidFill>
          <a:ln w="12700">
            <a:solidFill>
              <a:srgbClr val="EFEAF7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311335" y="525780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Later, from year 3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your introduction to your fee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960120" y="1874520"/>
            <a:ext cx="1097280" cy="1097280"/>
          </a:xfrm>
          <a:prstGeom prst="ellipse">
            <a:avLst/>
          </a:prstGeom>
          <a:solidFill>
            <a:srgbClr val="5B3A8C"/>
          </a:solidFill>
          <a:ln w="33528">
            <a:solidFill>
              <a:srgbClr val="C9A227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148840"/>
            <a:ext cx="548640" cy="5486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introduce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5387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 with tenders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94560" y="2423160"/>
            <a:ext cx="921944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3253664" y="1874520"/>
            <a:ext cx="1097280" cy="1097280"/>
          </a:xfrm>
          <a:prstGeom prst="ellipse">
            <a:avLst/>
          </a:prstGeom>
          <a:solidFill>
            <a:srgbClr val="5B3A8C"/>
          </a:solidFill>
          <a:ln w="33528">
            <a:solidFill>
              <a:srgbClr val="C9A2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984" y="2148840"/>
            <a:ext cx="548640" cy="5486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42184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demo</a:t>
            </a:r>
            <a:endParaRPr lang="en-US" sz="1550" dirty="0"/>
          </a:p>
        </p:txBody>
      </p:sp>
      <p:sp>
        <p:nvSpPr>
          <p:cNvPr id="12" name="Text 8"/>
          <p:cNvSpPr txBox="1"/>
          <p:nvPr/>
        </p:nvSpPr>
        <p:spPr>
          <a:xfrm>
            <a:off x="2842184" y="35387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client's logo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preloaded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88104" y="2423160"/>
            <a:ext cx="921944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5547208" y="1874520"/>
            <a:ext cx="1097280" cy="1097280"/>
          </a:xfrm>
          <a:prstGeom prst="ellipse">
            <a:avLst/>
          </a:prstGeom>
          <a:solidFill>
            <a:srgbClr val="5B3A8C"/>
          </a:solidFill>
          <a:ln w="33528">
            <a:solidFill>
              <a:srgbClr val="C9A227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28" y="2148840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135728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tender free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5135728" y="35387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it together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client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781648" y="2423160"/>
            <a:ext cx="921944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7840751" y="1874520"/>
            <a:ext cx="1097280" cy="1097280"/>
          </a:xfrm>
          <a:prstGeom prst="ellipse">
            <a:avLst/>
          </a:prstGeom>
          <a:solidFill>
            <a:srgbClr val="5B3A8C"/>
          </a:solidFill>
          <a:ln w="33528">
            <a:solidFill>
              <a:srgbClr val="C9A22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071" y="2148840"/>
            <a:ext cx="548640" cy="5486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429271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subscribes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7429271" y="35387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invoiced by us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9075191" y="2423160"/>
            <a:ext cx="921944" cy="914"/>
          </a:xfrm>
          <a:prstGeom prst="line">
            <a:avLst/>
          </a:prstGeom>
          <a:noFill/>
          <a:ln w="25400">
            <a:solidFill>
              <a:srgbClr val="5B3A8C"/>
            </a:solidFill>
            <a:prstDash val="solid"/>
            <a:tailEnd type="triangle"/>
          </a:ln>
        </p:spPr>
      </p:sp>
      <p:sp>
        <p:nvSpPr>
          <p:cNvPr id="24" name="Shape 18"/>
          <p:cNvSpPr/>
          <p:nvPr/>
        </p:nvSpPr>
        <p:spPr>
          <a:xfrm>
            <a:off x="10134295" y="1874520"/>
            <a:ext cx="1097280" cy="1097280"/>
          </a:xfrm>
          <a:prstGeom prst="ellipse">
            <a:avLst/>
          </a:prstGeom>
          <a:solidFill>
            <a:srgbClr val="C9A227"/>
          </a:solidFill>
          <a:ln w="33528">
            <a:solidFill>
              <a:srgbClr val="5B3A8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08615" y="2148840"/>
            <a:ext cx="548640" cy="54864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722815" y="31546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earn</a:t>
            </a:r>
            <a:endParaRPr lang="en-US" sz="1550" dirty="0"/>
          </a:p>
        </p:txBody>
      </p:sp>
      <p:sp>
        <p:nvSpPr>
          <p:cNvPr id="27" name="Text 20"/>
          <p:cNvSpPr txBox="1"/>
          <p:nvPr/>
        </p:nvSpPr>
        <p:spPr>
          <a:xfrm>
            <a:off x="9722815" y="3538728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of the client's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first-year fees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548640" y="4526280"/>
            <a:ext cx="5364328" cy="1463040"/>
          </a:xfrm>
          <a:prstGeom prst="roundRect">
            <a:avLst>
              <a:gd name="adj" fmla="val 7500"/>
            </a:avLst>
          </a:prstGeom>
          <a:solidFill>
            <a:srgbClr val="EFEAF7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822960" y="461772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Product, hosting, onboarding, vendor support, and invoicing the client. You never carry support.</a:t>
            </a:r>
            <a:endParaRPr lang="en-US" sz="1350" dirty="0"/>
          </a:p>
        </p:txBody>
      </p:sp>
      <p:sp>
        <p:nvSpPr>
          <p:cNvPr id="30" name="Shape 23"/>
          <p:cNvSpPr/>
          <p:nvPr/>
        </p:nvSpPr>
        <p:spPr>
          <a:xfrm>
            <a:off x="6278728" y="4526280"/>
            <a:ext cx="5364328" cy="1463040"/>
          </a:xfrm>
          <a:prstGeom prst="roundRect">
            <a:avLst>
              <a:gd name="adj" fmla="val 7500"/>
            </a:avLst>
          </a:prstGeom>
          <a:solidFill>
            <a:srgbClr val="F4ECD2"/>
          </a:solidFill>
          <a:ln w="12700">
            <a:solidFill>
              <a:srgbClr val="E8D9A8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Text 24"/>
          <p:cNvSpPr txBox="1"/>
          <p:nvPr/>
        </p:nvSpPr>
        <p:spPr>
          <a:xfrm>
            <a:off x="6553048" y="461772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7A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do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the client, join the demo, and, for ERP partners, build the connector as your own paid project.</a:t>
            </a:r>
            <a:endParaRPr lang="en-US" sz="1350" dirty="0"/>
          </a:p>
        </p:txBody>
      </p:sp>
      <p:sp>
        <p:nvSpPr>
          <p:cNvPr id="32" name="Text 25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ECONOMICS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 referral portfolio earns in its first year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49440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graphicFrame>
        <p:nvGraphicFramePr>
          <p:cNvPr id="5" name="Chart 0" descr=""/>
          <p:cNvGraphicFramePr/>
          <p:nvPr/>
        </p:nvGraphicFramePr>
        <p:xfrm>
          <a:off x="731520" y="17830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7863840" y="1737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maths, per client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863840" y="2240280"/>
            <a:ext cx="3794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92440" y="23317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annual plan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3,500 × 10 months = SAR 35,000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0424160" y="23317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2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20%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7863840" y="3611880"/>
            <a:ext cx="379476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CD2E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92440" y="3703320"/>
            <a:ext cx="2514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annual plan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7,500 × 10 months = SAR 75,000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0424160" y="37033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</a:t>
            </a:r>
            <a:endParaRPr lang="en-US" sz="2400" dirty="0"/>
          </a:p>
          <a:p>
            <a:pPr algn="r"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20%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5029200"/>
            <a:ext cx="3794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for ERP partners: </a:t>
            </a:r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connector project of SAR 15,000 to 40,000 per client, billed by you.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863840" y="5760720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plans include two months free. Prices exclude VAT.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GROWS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tender brings in new companies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14600" y="2331720"/>
            <a:ext cx="3383280" cy="338328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DCD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108960"/>
            <a:ext cx="1828800" cy="1828800"/>
          </a:xfrm>
          <a:prstGeom prst="ellipse">
            <a:avLst/>
          </a:prstGeom>
          <a:solidFill>
            <a:srgbClr val="5B3A8C"/>
          </a:solidFill>
          <a:ln w="38100">
            <a:solidFill>
              <a:srgbClr val="C9A22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3108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Vendors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never pay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794760" y="1920240"/>
            <a:ext cx="822960" cy="822960"/>
          </a:xfrm>
          <a:prstGeom prst="ellipse">
            <a:avLst/>
          </a:prstGeom>
          <a:solidFill>
            <a:srgbClr val="C9A227"/>
          </a:solidFill>
          <a:ln w="25146">
            <a:solidFill>
              <a:srgbClr val="5B3A8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00500" y="2125980"/>
            <a:ext cx="411480" cy="4114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3108960" y="1463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buyer runs a tender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486400" y="3611880"/>
            <a:ext cx="822960" cy="822960"/>
          </a:xfrm>
          <a:prstGeom prst="ellipse">
            <a:avLst/>
          </a:prstGeom>
          <a:solidFill>
            <a:srgbClr val="C9A227"/>
          </a:solidFill>
          <a:ln w="25146">
            <a:solidFill>
              <a:srgbClr val="5B3A8C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2140" y="38176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400800" y="3840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to 8 vendors invited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794760" y="5303520"/>
            <a:ext cx="822960" cy="822960"/>
          </a:xfrm>
          <a:prstGeom prst="ellipse">
            <a:avLst/>
          </a:prstGeom>
          <a:solidFill>
            <a:srgbClr val="C9A227"/>
          </a:solidFill>
          <a:ln w="25146">
            <a:solidFill>
              <a:srgbClr val="5B3A8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0500" y="550926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3108960" y="6172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register once, free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2103120" y="3611880"/>
            <a:ext cx="822960" cy="822960"/>
          </a:xfrm>
          <a:prstGeom prst="ellipse">
            <a:avLst/>
          </a:prstGeom>
          <a:solidFill>
            <a:srgbClr val="C9A227"/>
          </a:solidFill>
          <a:ln w="25146">
            <a:solidFill>
              <a:srgbClr val="5B3A8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8860" y="381762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411480" y="38404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1713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 buy too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8321040" y="18288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means for partners</a:t>
            </a:r>
            <a:endParaRPr lang="en-US" sz="17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423160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8778240" y="233172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client you bring introduces WaslaBid to its vendors, many of them companies you can advise too.</a:t>
            </a:r>
            <a:endParaRPr lang="en-US" sz="135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0" y="3474720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778240" y="33832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account works across every buyer, so vendors keep coming back.</a:t>
            </a:r>
            <a:endParaRPr lang="en-US" sz="135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0" y="4526280"/>
            <a:ext cx="292608" cy="29260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778240" y="443484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vendors on the platform makes the next client's first tender faster.</a:t>
            </a:r>
            <a:endParaRPr lang="en-US" sz="1350" dirty="0"/>
          </a:p>
        </p:txBody>
      </p:sp>
      <p:sp>
        <p:nvSpPr>
          <p:cNvPr id="26" name="Text 17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PROGRAMME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 get, and what we ask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18608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3A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get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594360" cy="594360"/>
          </a:xfrm>
          <a:prstGeom prst="ellipse">
            <a:avLst/>
          </a:prstGeom>
          <a:solidFill>
            <a:srgbClr val="5B3A8C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526030"/>
            <a:ext cx="297180" cy="2971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45920" y="2331720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demo tenant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as you like, for client meetings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68680" y="3273552"/>
            <a:ext cx="594360" cy="594360"/>
          </a:xfrm>
          <a:prstGeom prst="ellipse">
            <a:avLst/>
          </a:prstGeom>
          <a:solidFill>
            <a:srgbClr val="5B3A8C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270" y="3422142"/>
            <a:ext cx="297180" cy="2971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645920" y="3227832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a sales kit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Arabic and English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868680" y="4169664"/>
            <a:ext cx="594360" cy="594360"/>
          </a:xfrm>
          <a:prstGeom prst="ellipse">
            <a:avLst/>
          </a:prstGeom>
          <a:solidFill>
            <a:srgbClr val="5B3A8C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270" y="4318254"/>
            <a:ext cx="297180" cy="2971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123944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 registration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introductions are protected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868680" y="5065776"/>
            <a:ext cx="594360" cy="594360"/>
          </a:xfrm>
          <a:prstGeom prst="ellipse">
            <a:avLst/>
          </a:prstGeom>
          <a:solidFill>
            <a:srgbClr val="5B3A8C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214366"/>
            <a:ext cx="297180" cy="29718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45920" y="5020056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contact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 say in the roadmap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324448" y="1691640"/>
            <a:ext cx="5318608" cy="4389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644488" y="18288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5E0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ask</a:t>
            </a:r>
            <a:endParaRPr lang="en-US" sz="1800" dirty="0"/>
          </a:p>
        </p:txBody>
      </p:sp>
      <p:sp>
        <p:nvSpPr>
          <p:cNvPr id="20" name="Shape 14"/>
          <p:cNvSpPr/>
          <p:nvPr/>
        </p:nvSpPr>
        <p:spPr>
          <a:xfrm>
            <a:off x="6644488" y="2377440"/>
            <a:ext cx="594360" cy="594360"/>
          </a:xfrm>
          <a:prstGeom prst="ellipse">
            <a:avLst/>
          </a:prstGeom>
          <a:solidFill>
            <a:srgbClr val="F4ECD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078" y="2526030"/>
            <a:ext cx="297180" cy="2971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421728" y="2331720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client introductions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first six months</a:t>
            </a:r>
            <a:endParaRPr lang="en-US" sz="1450" dirty="0"/>
          </a:p>
        </p:txBody>
      </p:sp>
      <p:sp>
        <p:nvSpPr>
          <p:cNvPr id="23" name="Shape 16"/>
          <p:cNvSpPr/>
          <p:nvPr/>
        </p:nvSpPr>
        <p:spPr>
          <a:xfrm>
            <a:off x="6644488" y="3273552"/>
            <a:ext cx="594360" cy="594360"/>
          </a:xfrm>
          <a:prstGeom prst="ellipse">
            <a:avLst/>
          </a:prstGeom>
          <a:solidFill>
            <a:srgbClr val="F4ECD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078" y="3422142"/>
            <a:ext cx="297180" cy="29718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7421728" y="3227832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first demo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each client you introduce</a:t>
            </a:r>
            <a:endParaRPr lang="en-US" sz="1450" dirty="0"/>
          </a:p>
        </p:txBody>
      </p:sp>
      <p:sp>
        <p:nvSpPr>
          <p:cNvPr id="26" name="Shape 18"/>
          <p:cNvSpPr/>
          <p:nvPr/>
        </p:nvSpPr>
        <p:spPr>
          <a:xfrm>
            <a:off x="6644488" y="4169664"/>
            <a:ext cx="594360" cy="594360"/>
          </a:xfrm>
          <a:prstGeom prst="ellipse">
            <a:avLst/>
          </a:prstGeom>
          <a:solidFill>
            <a:srgbClr val="F4ECD2"/>
          </a:solidFill>
          <a:ln w="19050">
            <a:solidFill>
              <a:srgbClr val="C9A227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3078" y="4318254"/>
            <a:ext cx="297180" cy="297180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7421728" y="4123944"/>
            <a:ext cx="39470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feedback</a:t>
            </a:r>
            <a:endParaRPr lang="en-US" sz="1450" dirty="0"/>
          </a:p>
          <a:p>
            <a:pPr indent="0" marL="0">
              <a:buNone/>
            </a:pPr>
            <a:r>
              <a:rPr lang="en-US" sz="12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what your clients need</a:t>
            </a:r>
            <a:endParaRPr lang="en-US" sz="1450" dirty="0"/>
          </a:p>
        </p:txBody>
      </p:sp>
      <p:sp>
        <p:nvSpPr>
          <p:cNvPr id="29" name="Text 20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product is going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331720"/>
            <a:ext cx="10545775" cy="914"/>
          </a:xfrm>
          <a:prstGeom prst="line">
            <a:avLst/>
          </a:prstGeom>
          <a:noFill/>
          <a:ln w="38100">
            <a:solidFill>
              <a:srgbClr val="DCD2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C9A22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214884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A5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8346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EFEAF7"/>
          </a:solidFill>
          <a:ln w="12700">
            <a:solidFill>
              <a:srgbClr val="7A56B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pilot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3685032"/>
            <a:ext cx="109728" cy="10972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51560" y="3566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Sealed tender, end to end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4251960"/>
            <a:ext cx="109728" cy="10972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51560" y="41330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Branded portal and purchase order</a:t>
            </a:r>
            <a:endParaRPr lang="en-US" sz="12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818888"/>
            <a:ext cx="109728" cy="10972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051560" y="47000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3469538" y="2103120"/>
            <a:ext cx="457200" cy="457200"/>
          </a:xfrm>
          <a:prstGeom prst="ellipse">
            <a:avLst/>
          </a:prstGeom>
          <a:solidFill>
            <a:srgbClr val="5B3A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018178" y="214884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3378098" y="28346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3"/>
          <p:cNvSpPr txBox="1"/>
          <p:nvPr/>
        </p:nvSpPr>
        <p:spPr>
          <a:xfrm>
            <a:off x="3652418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1.1</a:t>
            </a:r>
            <a:endParaRPr lang="en-US" sz="17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0706" y="3685032"/>
            <a:ext cx="109728" cy="1097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81018" y="3566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Client's own domain</a:t>
            </a:r>
            <a:endParaRPr lang="en-US" sz="12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0706" y="4251960"/>
            <a:ext cx="109728" cy="10972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3881018" y="41330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editor and approval limits</a:t>
            </a:r>
            <a:endParaRPr lang="en-US" sz="12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70706" y="4818888"/>
            <a:ext cx="109728" cy="10972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3881018" y="47000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pre-check</a:t>
            </a:r>
            <a:endParaRPr lang="en-US" sz="1250" dirty="0"/>
          </a:p>
        </p:txBody>
      </p:sp>
      <p:sp>
        <p:nvSpPr>
          <p:cNvPr id="25" name="Shape 17"/>
          <p:cNvSpPr/>
          <p:nvPr/>
        </p:nvSpPr>
        <p:spPr>
          <a:xfrm>
            <a:off x="6298997" y="2103120"/>
            <a:ext cx="457200" cy="457200"/>
          </a:xfrm>
          <a:prstGeom prst="ellipse">
            <a:avLst/>
          </a:prstGeom>
          <a:solidFill>
            <a:srgbClr val="5B3A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6847637" y="214884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6207557" y="28346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Text 20"/>
          <p:cNvSpPr txBox="1"/>
          <p:nvPr/>
        </p:nvSpPr>
        <p:spPr>
          <a:xfrm>
            <a:off x="6481877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Version 1</a:t>
            </a:r>
            <a:endParaRPr lang="en-US" sz="17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0165" y="3685032"/>
            <a:ext cx="109728" cy="109728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710477" y="3566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sign-on</a:t>
            </a:r>
            <a:endParaRPr lang="en-US" sz="125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0165" y="4251960"/>
            <a:ext cx="109728" cy="10972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6710477" y="41330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Tender templates, local content</a:t>
            </a:r>
            <a:endParaRPr lang="en-US" sz="125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0165" y="4818888"/>
            <a:ext cx="109728" cy="109728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6710477" y="47000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export and dashboards</a:t>
            </a:r>
            <a:endParaRPr lang="en-US" sz="1250" dirty="0"/>
          </a:p>
        </p:txBody>
      </p:sp>
      <p:sp>
        <p:nvSpPr>
          <p:cNvPr id="35" name="Shape 24"/>
          <p:cNvSpPr/>
          <p:nvPr/>
        </p:nvSpPr>
        <p:spPr>
          <a:xfrm>
            <a:off x="9128455" y="2103120"/>
            <a:ext cx="457200" cy="457200"/>
          </a:xfrm>
          <a:prstGeom prst="ellipse">
            <a:avLst/>
          </a:prstGeom>
          <a:solidFill>
            <a:srgbClr val="5B3A8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6" name="Text 25"/>
          <p:cNvSpPr txBox="1"/>
          <p:nvPr/>
        </p:nvSpPr>
        <p:spPr>
          <a:xfrm>
            <a:off x="9677095" y="2148840"/>
            <a:ext cx="868680" cy="36576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5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200" dirty="0"/>
          </a:p>
        </p:txBody>
      </p:sp>
      <p:sp>
        <p:nvSpPr>
          <p:cNvPr id="37" name="Shape 26"/>
          <p:cNvSpPr/>
          <p:nvPr/>
        </p:nvSpPr>
        <p:spPr>
          <a:xfrm>
            <a:off x="9037015" y="2834640"/>
            <a:ext cx="2606040" cy="2926080"/>
          </a:xfrm>
          <a:prstGeom prst="roundRect">
            <a:avLst>
              <a:gd name="adj" fmla="val 4211"/>
            </a:avLst>
          </a:prstGeom>
          <a:solidFill>
            <a:srgbClr val="F7F6FB"/>
          </a:solidFill>
          <a:ln w="12700">
            <a:solidFill>
              <a:srgbClr val="D9E2E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Text 27"/>
          <p:cNvSpPr txBox="1"/>
          <p:nvPr/>
        </p:nvSpPr>
        <p:spPr>
          <a:xfrm>
            <a:off x="9311335" y="3017520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13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</a:t>
            </a:r>
            <a:endParaRPr lang="en-US" sz="17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9623" y="3685032"/>
            <a:ext cx="109728" cy="109728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9539935" y="3566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connectors</a:t>
            </a:r>
            <a:endParaRPr lang="en-US" sz="1250" dirty="0"/>
          </a:p>
        </p:txBody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9623" y="4251960"/>
            <a:ext cx="109728" cy="109728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9539935" y="413308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performance across tenders</a:t>
            </a:r>
            <a:endParaRPr lang="en-US" sz="1250" dirty="0"/>
          </a:p>
        </p:txBody>
      </p:sp>
      <p:pic>
        <p:nvPicPr>
          <p:cNvPr id="4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9623" y="4818888"/>
            <a:ext cx="109728" cy="109728"/>
          </a:xfrm>
          <a:prstGeom prst="rect">
            <a:avLst/>
          </a:prstGeom>
        </p:spPr>
      </p:pic>
      <p:sp>
        <p:nvSpPr>
          <p:cNvPr id="44" name="Text 30"/>
          <p:cNvSpPr txBox="1"/>
          <p:nvPr/>
        </p:nvSpPr>
        <p:spPr>
          <a:xfrm>
            <a:off x="9539935" y="4700016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partners, with consent</a:t>
            </a:r>
            <a:endParaRPr lang="en-US" sz="1250" dirty="0"/>
          </a:p>
        </p:txBody>
      </p:sp>
      <p:sp>
        <p:nvSpPr>
          <p:cNvPr id="45" name="Text 31"/>
          <p:cNvSpPr txBox="1"/>
          <p:nvPr/>
        </p:nvSpPr>
        <p:spPr>
          <a:xfrm>
            <a:off x="548640" y="58978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beyond the pilot are built when paying clients ask for them.</a:t>
            </a:r>
            <a:endParaRPr lang="en-US" sz="1250" dirty="0"/>
          </a:p>
        </p:txBody>
      </p:sp>
      <p:sp>
        <p:nvSpPr>
          <p:cNvPr id="46" name="Text 32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Become a founding partner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9456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388870"/>
            <a:ext cx="388620" cy="3886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3200400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30-minute call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learn about your clients and show the product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959352" y="3108960"/>
            <a:ext cx="417424" cy="91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4404208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78528" y="219456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2838" y="2388870"/>
            <a:ext cx="388620" cy="3886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55968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1"/>
          <p:cNvSpPr txBox="1"/>
          <p:nvPr/>
        </p:nvSpPr>
        <p:spPr>
          <a:xfrm>
            <a:off x="4678528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agreement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678528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terms, deal registration, and the demo tenant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7814920" y="3108960"/>
            <a:ext cx="417424" cy="914"/>
          </a:xfrm>
          <a:prstGeom prst="line">
            <a:avLst/>
          </a:prstGeom>
          <a:noFill/>
          <a:ln w="1905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8" name="Shape 14"/>
          <p:cNvSpPr/>
          <p:nvPr/>
        </p:nvSpPr>
        <p:spPr>
          <a:xfrm>
            <a:off x="8259775" y="1920240"/>
            <a:ext cx="3383280" cy="2377440"/>
          </a:xfrm>
          <a:prstGeom prst="roundRect">
            <a:avLst>
              <a:gd name="adj" fmla="val 4615"/>
            </a:avLst>
          </a:prstGeom>
          <a:solidFill>
            <a:srgbClr val="241D42"/>
          </a:solidFill>
          <a:ln w="12700">
            <a:solidFill>
              <a:srgbClr val="7A56B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534095" y="2194560"/>
            <a:ext cx="777240" cy="777240"/>
          </a:xfrm>
          <a:prstGeom prst="ellipse">
            <a:avLst/>
          </a:prstGeom>
          <a:solidFill>
            <a:srgbClr val="5B3A8C"/>
          </a:solidFill>
          <a:ln w="23749">
            <a:solidFill>
              <a:srgbClr val="C9A227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8405" y="2388870"/>
            <a:ext cx="388620" cy="38862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11535" y="2148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2" name="Text 17"/>
          <p:cNvSpPr txBox="1"/>
          <p:nvPr/>
        </p:nvSpPr>
        <p:spPr>
          <a:xfrm>
            <a:off x="8534095" y="31546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introduction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8534095" y="35661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run the first tender free, together</a:t>
            </a:r>
            <a:endParaRPr lang="en-US" sz="1300" dirty="0"/>
          </a:p>
        </p:txBody>
      </p:sp>
      <p:sp>
        <p:nvSpPr>
          <p:cNvPr id="24" name="Text 19"/>
          <p:cNvSpPr txBox="1"/>
          <p:nvPr/>
        </p:nvSpPr>
        <p:spPr>
          <a:xfrm>
            <a:off x="548640" y="4800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keep their terms as the programme grows.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Assaf  ·  Founder, WaslaBid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9814255" y="6473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Wasla</a:t>
            </a:r>
            <a:pPr algn="r" indent="0" marL="0">
              <a:buNone/>
            </a:pPr>
            <a:r>
              <a:rPr lang="en-US" sz="1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</a:t>
            </a:r>
            <a:pPr algn="r" indent="0" marL="0">
              <a:buNone/>
            </a:pPr>
            <a:r>
              <a:rPr lang="en-US" sz="1000" dirty="0">
                <a:solidFill>
                  <a:srgbClr val="B8B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WaslaBid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WaslaBid partner programme</dc:title>
  <dc:subject>PptxGenJS Presentation</dc:subject>
  <dc:creator>PptxGenJS</dc:creator>
  <cp:lastModifiedBy>PptxGenJS</cp:lastModifiedBy>
  <cp:revision>1</cp:revision>
  <dcterms:created xsi:type="dcterms:W3CDTF">2026-09-26T00:18:38Z</dcterms:created>
  <dcterms:modified xsi:type="dcterms:W3CDTF">2026-09-26T00:18:38Z</dcterms:modified>
</cp:coreProperties>
</file>